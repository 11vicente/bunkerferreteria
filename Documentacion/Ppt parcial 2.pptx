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5"/>
    <p:sldMasterId id="214748366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y="5143500" cx="9144000"/>
  <p:notesSz cx="6858000" cy="9144000"/>
  <p:embeddedFontLst>
    <p:embeddedFont>
      <p:font typeface="Play"/>
      <p:regular r:id="rId29"/>
      <p:bold r:id="rId30"/>
    </p:embeddedFont>
    <p:embeddedFont>
      <p:font typeface="Urbanist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665A334-75D8-4412-BFE7-AEDF258FB91C}">
  <a:tblStyle styleId="{2665A334-75D8-4412-BFE7-AEDF258FB91C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F81BD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F81BD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Play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Urbanist-regular.fntdata"/><Relationship Id="rId30" Type="http://schemas.openxmlformats.org/officeDocument/2006/relationships/font" Target="fonts/Play-bold.fntdata"/><Relationship Id="rId11" Type="http://schemas.openxmlformats.org/officeDocument/2006/relationships/slide" Target="slides/slide4.xml"/><Relationship Id="rId33" Type="http://schemas.openxmlformats.org/officeDocument/2006/relationships/font" Target="fonts/Urbanist-italic.fntdata"/><Relationship Id="rId10" Type="http://schemas.openxmlformats.org/officeDocument/2006/relationships/slide" Target="slides/slide3.xml"/><Relationship Id="rId32" Type="http://schemas.openxmlformats.org/officeDocument/2006/relationships/font" Target="fonts/Urbanist-bold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34" Type="http://schemas.openxmlformats.org/officeDocument/2006/relationships/font" Target="fonts/Urbanist-bold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2f36f6040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d2f36f6040_2_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2f36f6040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d2f36f6040_2_8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2f36f6040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d2f36f6040_2_9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2f36f6040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d2f36f6040_2_9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556a6d7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556a6d7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2f36f6040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d2f36f6040_2_10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2f36f6040_6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2f36f6040_6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d10916415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d10916415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556a6d7c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e556a6d7c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d10916415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ed10916415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2f36f6040_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d2f36f6040_2_1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2f36f6040_6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d2f36f6040_6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556a6d7c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e556a6d7c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2f36f6040_6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d2f36f6040_6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2f36f6040_2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d2f36f6040_2_1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2f36f6040_2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d2f36f6040_2_1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2f36f6040_6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d2f36f6040_6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1c7a2dfb0704ef9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1c7a2dfb0704ef9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556a6d7c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e556a6d7c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f70614b4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df70614b4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d2f36f6040_2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d2f36f6040_2_1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principal">
  <p:cSld name="PORTADA principa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4290" y="1347605"/>
            <a:ext cx="53224" cy="244829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/>
          <p:nvPr/>
        </p:nvSpPr>
        <p:spPr>
          <a:xfrm>
            <a:off x="4458745" y="462516"/>
            <a:ext cx="4256015" cy="4250366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4798912" y="2091485"/>
            <a:ext cx="221097" cy="2210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" name="Google Shape;60;p14"/>
          <p:cNvCxnSpPr/>
          <p:nvPr/>
        </p:nvCxnSpPr>
        <p:spPr>
          <a:xfrm>
            <a:off x="5247167" y="3079865"/>
            <a:ext cx="30861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" name="Google Shape;61;p14"/>
          <p:cNvSpPr txBox="1"/>
          <p:nvPr>
            <p:ph type="title"/>
          </p:nvPr>
        </p:nvSpPr>
        <p:spPr>
          <a:xfrm>
            <a:off x="5186857" y="1951058"/>
            <a:ext cx="3283363" cy="979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5202964" y="3229130"/>
            <a:ext cx="3267256" cy="4607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6609" y="905221"/>
            <a:ext cx="2531930" cy="406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1">
  <p:cSld name="INTERIOR 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491014" y="413281"/>
            <a:ext cx="3687581" cy="35226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2" type="body"/>
          </p:nvPr>
        </p:nvSpPr>
        <p:spPr>
          <a:xfrm>
            <a:off x="480536" y="853178"/>
            <a:ext cx="3698059" cy="41475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p15"/>
          <p:cNvSpPr/>
          <p:nvPr/>
        </p:nvSpPr>
        <p:spPr>
          <a:xfrm>
            <a:off x="0" y="0"/>
            <a:ext cx="414670" cy="41467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" name="Google Shape;68;p15"/>
          <p:cNvGrpSpPr/>
          <p:nvPr/>
        </p:nvGrpSpPr>
        <p:grpSpPr>
          <a:xfrm>
            <a:off x="7919293" y="4704907"/>
            <a:ext cx="1053785" cy="240736"/>
            <a:chOff x="8941676" y="5879067"/>
            <a:chExt cx="2618358" cy="598161"/>
          </a:xfrm>
        </p:grpSpPr>
        <p:sp>
          <p:nvSpPr>
            <p:cNvPr id="69" name="Google Shape;69;p15"/>
            <p:cNvSpPr/>
            <p:nvPr/>
          </p:nvSpPr>
          <p:spPr>
            <a:xfrm>
              <a:off x="8941676" y="5949980"/>
              <a:ext cx="1618615" cy="525145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10672317" y="5994129"/>
              <a:ext cx="388620" cy="48260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1" name="Google Shape;71;p15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72" name="Google Shape;72;p15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73" name="Google Shape;73;p15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74" name="Google Shape;7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2035851" y="3256780"/>
            <a:ext cx="89556" cy="3179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1">
  <p:cSld name="PORTADA interior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5823869" y="1607751"/>
            <a:ext cx="2952716" cy="2134071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5823870" y="1607752"/>
            <a:ext cx="257143" cy="25714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6343891" y="2064537"/>
            <a:ext cx="2104331" cy="1220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6"/>
          <p:cNvSpPr/>
          <p:nvPr/>
        </p:nvSpPr>
        <p:spPr>
          <a:xfrm>
            <a:off x="0" y="2021305"/>
            <a:ext cx="1094874" cy="110089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-1" y="2064537"/>
            <a:ext cx="1094875" cy="1032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b="1" lang="e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1" sz="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2">
  <p:cSld name="PORTADA interior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/>
          <p:nvPr/>
        </p:nvSpPr>
        <p:spPr>
          <a:xfrm>
            <a:off x="5823869" y="1607751"/>
            <a:ext cx="2952716" cy="2134071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5823870" y="1607752"/>
            <a:ext cx="257143" cy="25714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7"/>
          <p:cNvSpPr txBox="1"/>
          <p:nvPr>
            <p:ph type="title"/>
          </p:nvPr>
        </p:nvSpPr>
        <p:spPr>
          <a:xfrm>
            <a:off x="6343891" y="2064537"/>
            <a:ext cx="2104331" cy="1220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/>
          <p:nvPr/>
        </p:nvSpPr>
        <p:spPr>
          <a:xfrm>
            <a:off x="0" y="2021305"/>
            <a:ext cx="1094874" cy="110089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-1" y="2064537"/>
            <a:ext cx="1094875" cy="1032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b="1" lang="e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1" sz="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2">
  <p:cSld name="INTERIOR 2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/>
          <p:nvPr/>
        </p:nvSpPr>
        <p:spPr>
          <a:xfrm>
            <a:off x="0" y="0"/>
            <a:ext cx="3344779" cy="51435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728210" y="675658"/>
            <a:ext cx="2811356" cy="379218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-5400000">
            <a:off x="8196851" y="2615612"/>
            <a:ext cx="1794120" cy="100179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>
            <p:ph type="title"/>
          </p:nvPr>
        </p:nvSpPr>
        <p:spPr>
          <a:xfrm>
            <a:off x="1108099" y="1664369"/>
            <a:ext cx="2104331" cy="1220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1108099" y="3006680"/>
            <a:ext cx="2104331" cy="5597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grpSp>
        <p:nvGrpSpPr>
          <p:cNvPr id="93" name="Google Shape;93;p18"/>
          <p:cNvGrpSpPr/>
          <p:nvPr/>
        </p:nvGrpSpPr>
        <p:grpSpPr>
          <a:xfrm>
            <a:off x="7919293" y="4704907"/>
            <a:ext cx="1053785" cy="240736"/>
            <a:chOff x="8941676" y="5879067"/>
            <a:chExt cx="2618358" cy="598161"/>
          </a:xfrm>
        </p:grpSpPr>
        <p:sp>
          <p:nvSpPr>
            <p:cNvPr id="94" name="Google Shape;94;p18"/>
            <p:cNvSpPr/>
            <p:nvPr/>
          </p:nvSpPr>
          <p:spPr>
            <a:xfrm>
              <a:off x="8941676" y="5949980"/>
              <a:ext cx="1618615" cy="525145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8"/>
            <p:cNvSpPr/>
            <p:nvPr/>
          </p:nvSpPr>
          <p:spPr>
            <a:xfrm>
              <a:off x="10672317" y="5994129"/>
              <a:ext cx="388620" cy="48260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" name="Google Shape;96;p18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97" name="Google Shape;97;p18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98" name="Google Shape;98;p1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99" name="Google Shape;9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311" y="986442"/>
            <a:ext cx="89313" cy="31706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4">
  <p:cSld name="PORTADA interior 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/>
          <p:nvPr/>
        </p:nvSpPr>
        <p:spPr>
          <a:xfrm>
            <a:off x="5823869" y="1607751"/>
            <a:ext cx="2952716" cy="2134071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9"/>
          <p:cNvSpPr/>
          <p:nvPr/>
        </p:nvSpPr>
        <p:spPr>
          <a:xfrm>
            <a:off x="5823870" y="1607752"/>
            <a:ext cx="257143" cy="25714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9"/>
          <p:cNvSpPr txBox="1"/>
          <p:nvPr>
            <p:ph type="title"/>
          </p:nvPr>
        </p:nvSpPr>
        <p:spPr>
          <a:xfrm>
            <a:off x="6343891" y="2064537"/>
            <a:ext cx="2104331" cy="1220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19"/>
          <p:cNvSpPr/>
          <p:nvPr/>
        </p:nvSpPr>
        <p:spPr>
          <a:xfrm>
            <a:off x="0" y="2021305"/>
            <a:ext cx="1094874" cy="110089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-1" y="2064537"/>
            <a:ext cx="1094875" cy="1032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b="1" lang="e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1" sz="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3">
  <p:cSld name="INTERIOR 3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/>
          <p:nvPr/>
        </p:nvSpPr>
        <p:spPr>
          <a:xfrm>
            <a:off x="0" y="0"/>
            <a:ext cx="866274" cy="51435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0"/>
          <p:cNvSpPr/>
          <p:nvPr/>
        </p:nvSpPr>
        <p:spPr>
          <a:xfrm>
            <a:off x="364223" y="304379"/>
            <a:ext cx="116727" cy="116727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4883140" y="304379"/>
            <a:ext cx="3687581" cy="35226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2" type="body"/>
          </p:nvPr>
        </p:nvSpPr>
        <p:spPr>
          <a:xfrm>
            <a:off x="4883140" y="732109"/>
            <a:ext cx="3698059" cy="211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1" name="Google Shape;111;p20"/>
          <p:cNvSpPr/>
          <p:nvPr/>
        </p:nvSpPr>
        <p:spPr>
          <a:xfrm>
            <a:off x="8663934" y="362742"/>
            <a:ext cx="203579" cy="20357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p20"/>
          <p:cNvGrpSpPr/>
          <p:nvPr/>
        </p:nvGrpSpPr>
        <p:grpSpPr>
          <a:xfrm>
            <a:off x="7919293" y="4704907"/>
            <a:ext cx="1053785" cy="240736"/>
            <a:chOff x="8941676" y="5879067"/>
            <a:chExt cx="2618358" cy="598161"/>
          </a:xfrm>
        </p:grpSpPr>
        <p:sp>
          <p:nvSpPr>
            <p:cNvPr id="113" name="Google Shape;113;p20"/>
            <p:cNvSpPr/>
            <p:nvPr/>
          </p:nvSpPr>
          <p:spPr>
            <a:xfrm>
              <a:off x="8941676" y="5949980"/>
              <a:ext cx="1618615" cy="525145"/>
            </a:xfrm>
            <a:custGeom>
              <a:rect b="b" l="l" r="r" t="t"/>
              <a:pathLst>
                <a:path extrusionOk="0" h="525145" w="161861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extrusionOk="0" h="525145" w="161861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extrusionOk="0" h="525145" w="161861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extrusionOk="0" h="525145" w="161861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0"/>
            <p:cNvSpPr/>
            <p:nvPr/>
          </p:nvSpPr>
          <p:spPr>
            <a:xfrm>
              <a:off x="10672317" y="5994129"/>
              <a:ext cx="388620" cy="482600"/>
            </a:xfrm>
            <a:custGeom>
              <a:rect b="b" l="l" r="r" t="t"/>
              <a:pathLst>
                <a:path extrusionOk="0" h="482600" w="388619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5" name="Google Shape;115;p20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116" name="Google Shape;116;p20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rect b="b" l="l" r="r" t="t"/>
                <a:pathLst>
                  <a:path extrusionOk="0" h="490854" w="376555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17" name="Google Shape;117;p20"/>
              <p:cNvPicPr preferRelativeResize="0"/>
              <p:nvPr/>
            </p:nvPicPr>
            <p:blipFill rotWithShape="1">
              <a:blip r:embed="rId2">
                <a:alphaModFix/>
              </a:blip>
              <a:srcRect b="0" l="0" r="0" t="0"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18" name="Google Shape;1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194" y="1683705"/>
            <a:ext cx="89313" cy="31706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interior 3">
  <p:cSld name="PORTADA interior 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/>
          <p:nvPr/>
        </p:nvSpPr>
        <p:spPr>
          <a:xfrm>
            <a:off x="5823869" y="1607751"/>
            <a:ext cx="2952716" cy="2134071"/>
          </a:xfrm>
          <a:prstGeom prst="rect">
            <a:avLst/>
          </a:pr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1"/>
          <p:cNvSpPr/>
          <p:nvPr/>
        </p:nvSpPr>
        <p:spPr>
          <a:xfrm>
            <a:off x="5823870" y="1607752"/>
            <a:ext cx="257143" cy="25714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1"/>
          <p:cNvSpPr txBox="1"/>
          <p:nvPr>
            <p:ph type="title"/>
          </p:nvPr>
        </p:nvSpPr>
        <p:spPr>
          <a:xfrm>
            <a:off x="6343891" y="2064537"/>
            <a:ext cx="2104331" cy="1220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1"/>
          <p:cNvSpPr/>
          <p:nvPr/>
        </p:nvSpPr>
        <p:spPr>
          <a:xfrm>
            <a:off x="0" y="2021305"/>
            <a:ext cx="1094874" cy="110089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1"/>
          <p:cNvSpPr txBox="1"/>
          <p:nvPr/>
        </p:nvSpPr>
        <p:spPr>
          <a:xfrm>
            <a:off x="-1" y="2064537"/>
            <a:ext cx="1094875" cy="1032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b="1" lang="es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1" sz="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PA FINAL">
  <p:cSld name="TAPA FINAL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/>
          <p:nvPr/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7" name="Google Shape;127;p22"/>
          <p:cNvGrpSpPr/>
          <p:nvPr/>
        </p:nvGrpSpPr>
        <p:grpSpPr>
          <a:xfrm>
            <a:off x="1927196" y="4084220"/>
            <a:ext cx="5289608" cy="422609"/>
            <a:chOff x="1569453" y="5445627"/>
            <a:chExt cx="7052811" cy="563479"/>
          </a:xfrm>
        </p:grpSpPr>
        <p:pic>
          <p:nvPicPr>
            <p:cNvPr id="128" name="Google Shape;128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569736" y="5445627"/>
              <a:ext cx="5052528" cy="5634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" name="Google Shape;129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69453" y="5505450"/>
              <a:ext cx="1331493" cy="44383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0" name="Google Shape;13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72884" y="1718733"/>
            <a:ext cx="2998231" cy="972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jpg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rive.google.com/drive/u/1/folders/18mgaKkMReaFDQXCeHM_cvE3MdSlVvcZO" TargetMode="External"/><Relationship Id="rId4" Type="http://schemas.openxmlformats.org/officeDocument/2006/relationships/hyperlink" Target="https://github.com/11vicente/Proyecto_taller_programacion/tree/main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5186857" y="1951058"/>
            <a:ext cx="3283363" cy="979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70"/>
              <a:buFont typeface="Arial"/>
              <a:buNone/>
            </a:pPr>
            <a:r>
              <a:rPr lang="es" sz="1970"/>
              <a:t>Proyecto </a:t>
            </a:r>
            <a:r>
              <a:rPr lang="es" sz="1970"/>
              <a:t>Gestión</a:t>
            </a:r>
            <a:r>
              <a:rPr lang="es" sz="1970"/>
              <a:t> de inventario Bunker Ferreteria Parcial 2</a:t>
            </a:r>
            <a:br>
              <a:rPr lang="es" sz="1970"/>
            </a:br>
            <a:endParaRPr sz="1970"/>
          </a:p>
        </p:txBody>
      </p:sp>
      <p:sp>
        <p:nvSpPr>
          <p:cNvPr id="136" name="Google Shape;136;p23"/>
          <p:cNvSpPr txBox="1"/>
          <p:nvPr>
            <p:ph idx="1" type="subTitle"/>
          </p:nvPr>
        </p:nvSpPr>
        <p:spPr>
          <a:xfrm>
            <a:off x="5202964" y="3229130"/>
            <a:ext cx="32673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5100" lvl="0" marL="1651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s"/>
              <a:t>Felipe</a:t>
            </a:r>
            <a:r>
              <a:rPr lang="es"/>
              <a:t> Moreira</a:t>
            </a:r>
            <a:endParaRPr/>
          </a:p>
          <a:p>
            <a:pPr indent="-165100" lvl="0" marL="1651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s"/>
              <a:t>Vicente Muñoz</a:t>
            </a:r>
            <a:endParaRPr/>
          </a:p>
          <a:p>
            <a:pPr indent="-165100" lvl="0" marL="1651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s"/>
              <a:t>Vicente Varela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491014" y="413281"/>
            <a:ext cx="3687581" cy="35226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65100" lvl="0" marL="1651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Indice/agenda</a:t>
            </a:r>
            <a:endParaRPr/>
          </a:p>
        </p:txBody>
      </p:sp>
      <p:sp>
        <p:nvSpPr>
          <p:cNvPr id="142" name="Google Shape;142;p24"/>
          <p:cNvSpPr txBox="1"/>
          <p:nvPr>
            <p:ph idx="2" type="body"/>
          </p:nvPr>
        </p:nvSpPr>
        <p:spPr>
          <a:xfrm>
            <a:off x="480520" y="853175"/>
            <a:ext cx="7231500" cy="23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58750" lvl="0" marL="1651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s" sz="2100"/>
              <a:t>1</a:t>
            </a:r>
            <a:r>
              <a:rPr lang="es" sz="2100"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s" sz="2100"/>
              <a:t>Resumen y contexto Parcial 1</a:t>
            </a:r>
            <a:endParaRPr/>
          </a:p>
          <a:p>
            <a:pPr indent="-158750" lvl="0" marL="1651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s" sz="2100"/>
              <a:t>2</a:t>
            </a:r>
            <a:r>
              <a:rPr lang="es" sz="2100"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s" sz="2100"/>
              <a:t>Documentación Técnica (MER/Diagramas)</a:t>
            </a:r>
            <a:endParaRPr sz="2100"/>
          </a:p>
          <a:p>
            <a:pPr indent="-158750" lvl="0" marL="1651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s" sz="2100"/>
              <a:t>3</a:t>
            </a:r>
            <a:r>
              <a:rPr lang="es" sz="2100"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s" sz="2100"/>
              <a:t>Interfaz (UX) y </a:t>
            </a:r>
            <a:r>
              <a:rPr lang="es" sz="2100"/>
              <a:t>gestión</a:t>
            </a:r>
            <a:r>
              <a:rPr lang="es" sz="2100"/>
              <a:t> de </a:t>
            </a:r>
            <a:r>
              <a:rPr lang="es" sz="2100"/>
              <a:t>código</a:t>
            </a:r>
            <a:endParaRPr sz="2100"/>
          </a:p>
          <a:p>
            <a:pPr indent="-158750" lvl="0" marL="1651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s" sz="2100"/>
              <a:t>4</a:t>
            </a:r>
            <a:r>
              <a:rPr lang="es" sz="2100"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s" sz="2100"/>
              <a:t>Solución</a:t>
            </a:r>
            <a:r>
              <a:rPr lang="es" sz="2100"/>
              <a:t> funcional y pruebas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6343891" y="2064537"/>
            <a:ext cx="2104331" cy="1220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i="1" lang="es"/>
              <a:t>Resumen y contexto Parcial 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491037" y="413275"/>
            <a:ext cx="77514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s"/>
              <a:t>CONTEXTO Y MISIÓN INICIAL</a:t>
            </a:r>
            <a:endParaRPr/>
          </a:p>
        </p:txBody>
      </p:sp>
      <p:sp>
        <p:nvSpPr>
          <p:cNvPr id="153" name="Google Shape;153;p26"/>
          <p:cNvSpPr txBox="1"/>
          <p:nvPr>
            <p:ph idx="2" type="body"/>
          </p:nvPr>
        </p:nvSpPr>
        <p:spPr>
          <a:xfrm>
            <a:off x="491025" y="937525"/>
            <a:ext cx="8292000" cy="37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2000"/>
              <a:t>Identificación del Negocio:</a:t>
            </a:r>
            <a:r>
              <a:rPr lang="es" sz="2000"/>
              <a:t> Bunker Ferretería es un negocio familiar que operaba bajo un sistema 100% manual (agendas y memoria).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b="1" lang="es" sz="2000"/>
              <a:t>Misión del Proyecto:</a:t>
            </a:r>
            <a:r>
              <a:rPr lang="es" sz="2000"/>
              <a:t> Convertir procesos manuales en una plataforma digital ágil, tolerante a interrupciones y amigable para usuarios no técnicos.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b="1" lang="es" sz="2000"/>
              <a:t>Problemáticas Críticas (Heredadas):</a:t>
            </a:r>
            <a:r>
              <a:rPr lang="es" sz="2000"/>
              <a:t> Cuellos de botella en el mostrador, Quiebres de stock no detectados, Error en cálculos de metros/kilos, Lentitud en actualización de precios.</a:t>
            </a:r>
            <a:endParaRPr sz="25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1062636" y="304375"/>
            <a:ext cx="7508100" cy="35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ALCANCE Y OBJETIVOS DE LA ENTREGA 1</a:t>
            </a:r>
            <a:endParaRPr/>
          </a:p>
        </p:txBody>
      </p:sp>
      <p:sp>
        <p:nvSpPr>
          <p:cNvPr id="159" name="Google Shape;159;p27"/>
          <p:cNvSpPr txBox="1"/>
          <p:nvPr>
            <p:ph idx="2" type="body"/>
          </p:nvPr>
        </p:nvSpPr>
        <p:spPr>
          <a:xfrm>
            <a:off x="4877888" y="1366039"/>
            <a:ext cx="3698100" cy="2411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 sz="1700"/>
              <a:t>Exclusiones de Alcance</a:t>
            </a:r>
            <a:endParaRPr b="1" sz="1700"/>
          </a:p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SzPts val="1700"/>
              <a:buChar char="❖"/>
            </a:pPr>
            <a:r>
              <a:rPr lang="es" sz="1700"/>
              <a:t>No incluye integración SII.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s" sz="1700"/>
              <a:t>No incluye E-commerce.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s" sz="1700"/>
              <a:t>No sustituye contabilidad externa.</a:t>
            </a:r>
            <a:endParaRPr sz="1700"/>
          </a:p>
        </p:txBody>
      </p:sp>
      <p:sp>
        <p:nvSpPr>
          <p:cNvPr id="160" name="Google Shape;160;p27"/>
          <p:cNvSpPr txBox="1"/>
          <p:nvPr>
            <p:ph idx="2" type="body"/>
          </p:nvPr>
        </p:nvSpPr>
        <p:spPr>
          <a:xfrm>
            <a:off x="1057363" y="1366064"/>
            <a:ext cx="3698100" cy="2411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 sz="1700"/>
              <a:t>¿Qué definimos?</a:t>
            </a:r>
            <a:endParaRPr b="1" sz="1700"/>
          </a:p>
          <a:p>
            <a:pPr indent="-336550" lvl="0" marL="457200" rtl="0" algn="l">
              <a:spcBef>
                <a:spcPts val="800"/>
              </a:spcBef>
              <a:spcAft>
                <a:spcPts val="0"/>
              </a:spcAft>
              <a:buSzPts val="1700"/>
              <a:buChar char="●"/>
            </a:pPr>
            <a:r>
              <a:rPr lang="es" sz="1700"/>
              <a:t>Búsqueda rápida por escáner USB.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" sz="1700"/>
              <a:t>Venta fraccionada (Decimales).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" sz="1700"/>
              <a:t>Botón "Pausar Venta".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s" sz="1700"/>
              <a:t>Alertas de stock mínimo.</a:t>
            </a:r>
            <a:endParaRPr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6131899" y="2064525"/>
            <a:ext cx="2418000" cy="12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i="1" lang="es"/>
              <a:t>Documentaci</a:t>
            </a:r>
            <a:r>
              <a:rPr i="1" lang="es"/>
              <a:t>ó</a:t>
            </a:r>
            <a:r>
              <a:rPr i="1" lang="es"/>
              <a:t>n Técnica (MER/Diagramas)</a:t>
            </a:r>
            <a:endParaRPr i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type="title"/>
          </p:nvPr>
        </p:nvSpPr>
        <p:spPr>
          <a:xfrm>
            <a:off x="1086900" y="1551154"/>
            <a:ext cx="2104200" cy="2041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000"/>
              <a:t>MODELO DE DATOS (POSTGRESQL)</a:t>
            </a:r>
            <a:endParaRPr sz="1700"/>
          </a:p>
        </p:txBody>
      </p:sp>
      <p:sp>
        <p:nvSpPr>
          <p:cNvPr id="171" name="Google Shape;171;p29"/>
          <p:cNvSpPr txBox="1"/>
          <p:nvPr>
            <p:ph idx="1" type="body"/>
          </p:nvPr>
        </p:nvSpPr>
        <p:spPr>
          <a:xfrm>
            <a:off x="3748800" y="1453350"/>
            <a:ext cx="4981500" cy="2236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016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50">
                <a:solidFill>
                  <a:srgbClr val="34495E"/>
                </a:solidFill>
                <a:highlight>
                  <a:srgbClr val="FFFFFF"/>
                </a:highlight>
              </a:rPr>
              <a:t>Perfeccionamiento del MER</a:t>
            </a:r>
            <a:endParaRPr b="1" sz="1850">
              <a:solidFill>
                <a:srgbClr val="34495E"/>
              </a:solidFill>
              <a:highlight>
                <a:srgbClr val="FFFFFF"/>
              </a:highlight>
            </a:endParaRPr>
          </a:p>
          <a:p>
            <a:pPr indent="0" lvl="0" marL="1016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26">
                <a:solidFill>
                  <a:srgbClr val="34495E"/>
                </a:solidFill>
                <a:highlight>
                  <a:srgbClr val="FFFFFF"/>
                </a:highlight>
              </a:rPr>
              <a:t>Estructura optimizada para la </a:t>
            </a:r>
            <a:r>
              <a:rPr b="1" lang="es" sz="1526">
                <a:solidFill>
                  <a:srgbClr val="34495E"/>
                </a:solidFill>
                <a:highlight>
                  <a:srgbClr val="FFFFFF"/>
                </a:highlight>
              </a:rPr>
              <a:t>Brecha Tecnológica:</a:t>
            </a:r>
            <a:r>
              <a:rPr lang="es" sz="1526">
                <a:solidFill>
                  <a:srgbClr val="34495E"/>
                </a:solidFill>
                <a:highlight>
                  <a:srgbClr val="FFFFFF"/>
                </a:highlight>
              </a:rPr>
              <a:t> flexibilidad en unidades de medida y consistencia transaccional.</a:t>
            </a:r>
            <a:endParaRPr sz="1526">
              <a:solidFill>
                <a:srgbClr val="34495E"/>
              </a:solidFill>
              <a:highlight>
                <a:srgbClr val="FFFFFF"/>
              </a:highlight>
            </a:endParaRPr>
          </a:p>
          <a:p>
            <a:pPr indent="-327025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C3E50"/>
              </a:buClr>
              <a:buSzPts val="1550"/>
              <a:buChar char="●"/>
            </a:pPr>
            <a:r>
              <a:rPr b="1" lang="es" sz="1550">
                <a:solidFill>
                  <a:srgbClr val="2C3E50"/>
                </a:solidFill>
                <a:highlight>
                  <a:srgbClr val="FFFFFF"/>
                </a:highlight>
              </a:rPr>
              <a:t>Triggers:</a:t>
            </a:r>
            <a:r>
              <a:rPr lang="es" sz="1550">
                <a:solidFill>
                  <a:srgbClr val="2C3E50"/>
                </a:solidFill>
                <a:highlight>
                  <a:srgbClr val="FFFFFF"/>
                </a:highlight>
              </a:rPr>
              <a:t> Lógica de "Inventario Blindado".</a:t>
            </a:r>
            <a:endParaRPr sz="1550">
              <a:solidFill>
                <a:srgbClr val="2C3E50"/>
              </a:solidFill>
              <a:highlight>
                <a:srgbClr val="FFFFFF"/>
              </a:highlight>
            </a:endParaRPr>
          </a:p>
          <a:p>
            <a:pPr indent="-3270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50"/>
              <a:buChar char="●"/>
            </a:pPr>
            <a:r>
              <a:rPr b="1" lang="es" sz="1550">
                <a:solidFill>
                  <a:srgbClr val="2C3E50"/>
                </a:solidFill>
                <a:highlight>
                  <a:srgbClr val="FFFFFF"/>
                </a:highlight>
              </a:rPr>
              <a:t>RLS:</a:t>
            </a:r>
            <a:r>
              <a:rPr lang="es" sz="1550">
                <a:solidFill>
                  <a:srgbClr val="2C3E50"/>
                </a:solidFill>
                <a:highlight>
                  <a:srgbClr val="FFFFFF"/>
                </a:highlight>
              </a:rPr>
              <a:t> Seguridad en Supabase a nivel de fila.</a:t>
            </a:r>
            <a:endParaRPr sz="1550">
              <a:solidFill>
                <a:srgbClr val="2C3E5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idx="1" type="body"/>
          </p:nvPr>
        </p:nvSpPr>
        <p:spPr>
          <a:xfrm>
            <a:off x="452512" y="72950"/>
            <a:ext cx="7751400" cy="35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DIAGRAMAS DE ARQUITECTURA Y SECUENCIA</a:t>
            </a:r>
            <a:endParaRPr/>
          </a:p>
        </p:txBody>
      </p:sp>
      <p:sp>
        <p:nvSpPr>
          <p:cNvPr id="177" name="Google Shape;177;p30"/>
          <p:cNvSpPr txBox="1"/>
          <p:nvPr>
            <p:ph idx="2" type="body"/>
          </p:nvPr>
        </p:nvSpPr>
        <p:spPr>
          <a:xfrm>
            <a:off x="442000" y="512825"/>
            <a:ext cx="7995000" cy="93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 sz="1900"/>
              <a:t>Flujo de Operación</a:t>
            </a:r>
            <a:endParaRPr b="1" sz="19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400"/>
              <a:t>Se utiliza un patrón de Tres Capas con persistencia Local-First (Dexie.js) para garantizar que la ferretería siga operando incluso ante cortes de internet.</a:t>
            </a:r>
            <a:endParaRPr sz="1400"/>
          </a:p>
        </p:txBody>
      </p:sp>
      <p:pic>
        <p:nvPicPr>
          <p:cNvPr id="178" name="Google Shape;178;p30" title="Diagrama de Arquitectu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4150" y="1353100"/>
            <a:ext cx="4642824" cy="345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>
            <p:ph idx="1" type="body"/>
          </p:nvPr>
        </p:nvSpPr>
        <p:spPr>
          <a:xfrm>
            <a:off x="503887" y="105050"/>
            <a:ext cx="7751400" cy="35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DIAGRAMAS DE CASOS DE USO</a:t>
            </a:r>
            <a:endParaRPr/>
          </a:p>
        </p:txBody>
      </p:sp>
      <p:pic>
        <p:nvPicPr>
          <p:cNvPr id="184" name="Google Shape;184;p31" title="Diagrama de Casos de Us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100" y="643350"/>
            <a:ext cx="6304349" cy="40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idx="1" type="body"/>
          </p:nvPr>
        </p:nvSpPr>
        <p:spPr>
          <a:xfrm>
            <a:off x="503887" y="105050"/>
            <a:ext cx="7751400" cy="35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DIAGRAMAS DE SECUENCIA</a:t>
            </a:r>
            <a:endParaRPr/>
          </a:p>
        </p:txBody>
      </p:sp>
      <p:pic>
        <p:nvPicPr>
          <p:cNvPr id="190" name="Google Shape;190;p32" title="Diagrama de Secuenci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06992"/>
            <a:ext cx="8965898" cy="3821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>
            <p:ph type="title"/>
          </p:nvPr>
        </p:nvSpPr>
        <p:spPr>
          <a:xfrm>
            <a:off x="6343891" y="2064537"/>
            <a:ext cx="2104331" cy="1220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i="1" lang="es"/>
              <a:t>Interfaz (UX) y gestión de código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/>
          <p:nvPr>
            <p:ph idx="1" type="body"/>
          </p:nvPr>
        </p:nvSpPr>
        <p:spPr>
          <a:xfrm>
            <a:off x="1289635" y="175950"/>
            <a:ext cx="7274700" cy="35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Captura</a:t>
            </a:r>
            <a:endParaRPr/>
          </a:p>
        </p:txBody>
      </p:sp>
      <p:pic>
        <p:nvPicPr>
          <p:cNvPr id="201" name="Google Shape;20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1525" y="598775"/>
            <a:ext cx="6894295" cy="418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/>
          <p:nvPr>
            <p:ph idx="1" type="body"/>
          </p:nvPr>
        </p:nvSpPr>
        <p:spPr>
          <a:xfrm>
            <a:off x="491036" y="413275"/>
            <a:ext cx="7167900" cy="35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MOCKUPS VS SISTEMA REAL</a:t>
            </a:r>
            <a:endParaRPr/>
          </a:p>
        </p:txBody>
      </p:sp>
      <p:sp>
        <p:nvSpPr>
          <p:cNvPr id="207" name="Google Shape;207;p35"/>
          <p:cNvSpPr txBox="1"/>
          <p:nvPr>
            <p:ph idx="2" type="body"/>
          </p:nvPr>
        </p:nvSpPr>
        <p:spPr>
          <a:xfrm>
            <a:off x="480525" y="853175"/>
            <a:ext cx="2745600" cy="2714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 sz="1400"/>
              <a:t>Historias de Usuario</a:t>
            </a:r>
            <a:endParaRPr b="1"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s" sz="1200"/>
              <a:t>        Cajero: </a:t>
            </a:r>
            <a:r>
              <a:rPr lang="es" sz="1200"/>
              <a:t>"Debo dejar en espera una venta por una emergencia o </a:t>
            </a:r>
            <a:r>
              <a:rPr lang="es" sz="1200"/>
              <a:t>algún</a:t>
            </a:r>
            <a:r>
              <a:rPr lang="es" sz="1200"/>
              <a:t> imprevisto".</a:t>
            </a:r>
            <a:endParaRPr sz="1200"/>
          </a:p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s" sz="1200"/>
              <a:t>   </a:t>
            </a:r>
            <a:r>
              <a:rPr b="1" lang="es" sz="1200"/>
              <a:t>Admin:</a:t>
            </a:r>
            <a:r>
              <a:rPr lang="es" sz="1200"/>
              <a:t> "Necesito ver alertas visuales cuando el stock sea crítico para no estar a </a:t>
            </a:r>
            <a:r>
              <a:rPr lang="es" sz="1200"/>
              <a:t>última</a:t>
            </a:r>
            <a:r>
              <a:rPr lang="es" sz="1200"/>
              <a:t> hora".</a:t>
            </a:r>
            <a:endParaRPr sz="12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208" name="Google Shape;20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3350" y="1043475"/>
            <a:ext cx="5141126" cy="3402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6"/>
          <p:cNvSpPr txBox="1"/>
          <p:nvPr>
            <p:ph type="title"/>
          </p:nvPr>
        </p:nvSpPr>
        <p:spPr>
          <a:xfrm>
            <a:off x="871750" y="1558950"/>
            <a:ext cx="2513400" cy="2025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GESTIÓN PROFESIONAL EN GITHUB</a:t>
            </a:r>
            <a:endParaRPr/>
          </a:p>
        </p:txBody>
      </p:sp>
      <p:sp>
        <p:nvSpPr>
          <p:cNvPr id="214" name="Google Shape;214;p36"/>
          <p:cNvSpPr txBox="1"/>
          <p:nvPr>
            <p:ph idx="1" type="body"/>
          </p:nvPr>
        </p:nvSpPr>
        <p:spPr>
          <a:xfrm>
            <a:off x="3939650" y="333000"/>
            <a:ext cx="4843500" cy="1696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850">
                <a:solidFill>
                  <a:srgbClr val="2C3E50"/>
                </a:solidFill>
                <a:highlight>
                  <a:srgbClr val="FFFFFF"/>
                </a:highlight>
              </a:rPr>
              <a:t>Historial de Desarrollo</a:t>
            </a:r>
            <a:endParaRPr b="1" sz="1850">
              <a:solidFill>
                <a:srgbClr val="2C3E50"/>
              </a:solidFill>
              <a:highlight>
                <a:srgbClr val="FFFFFF"/>
              </a:highlight>
            </a:endParaRPr>
          </a:p>
          <a:p>
            <a:pPr indent="-320675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C3E50"/>
              </a:buClr>
              <a:buSzPts val="1450"/>
              <a:buChar char="●"/>
            </a:pPr>
            <a:r>
              <a:rPr lang="es" sz="1450">
                <a:solidFill>
                  <a:srgbClr val="2C3E50"/>
                </a:solidFill>
                <a:highlight>
                  <a:srgbClr val="FFFFFF"/>
                </a:highlight>
              </a:rPr>
              <a:t>Repositorio con arquitectura modular.</a:t>
            </a:r>
            <a:endParaRPr sz="1450">
              <a:solidFill>
                <a:srgbClr val="2C3E50"/>
              </a:solidFill>
              <a:highlight>
                <a:srgbClr val="FFFFFF"/>
              </a:highlight>
            </a:endParaRPr>
          </a:p>
          <a:p>
            <a:pPr indent="-3206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50"/>
              <a:buChar char="●"/>
            </a:pPr>
            <a:r>
              <a:rPr lang="es" sz="1450">
                <a:solidFill>
                  <a:srgbClr val="2C3E50"/>
                </a:solidFill>
                <a:highlight>
                  <a:srgbClr val="FFFFFF"/>
                </a:highlight>
              </a:rPr>
              <a:t>Commits constantes (Evidencia de avance).</a:t>
            </a:r>
            <a:endParaRPr sz="1450">
              <a:solidFill>
                <a:srgbClr val="2C3E50"/>
              </a:solidFill>
              <a:highlight>
                <a:srgbClr val="FFFFFF"/>
              </a:highlight>
            </a:endParaRPr>
          </a:p>
          <a:p>
            <a:pPr indent="-3206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50"/>
              <a:buChar char="●"/>
            </a:pPr>
            <a:r>
              <a:rPr lang="es" sz="1450">
                <a:solidFill>
                  <a:srgbClr val="2C3E50"/>
                </a:solidFill>
                <a:highlight>
                  <a:srgbClr val="FFFFFF"/>
                </a:highlight>
              </a:rPr>
              <a:t>Estructura: /components, /hooks, /supabase.</a:t>
            </a:r>
            <a:endParaRPr sz="1450">
              <a:solidFill>
                <a:srgbClr val="2C3E50"/>
              </a:solidFill>
              <a:highlight>
                <a:srgbClr val="FFFFFF"/>
              </a:highlight>
            </a:endParaRPr>
          </a:p>
        </p:txBody>
      </p:sp>
      <p:pic>
        <p:nvPicPr>
          <p:cNvPr id="215" name="Google Shape;215;p36"/>
          <p:cNvPicPr preferRelativeResize="0"/>
          <p:nvPr/>
        </p:nvPicPr>
        <p:blipFill rotWithShape="1">
          <a:blip r:embed="rId3">
            <a:alphaModFix/>
          </a:blip>
          <a:srcRect b="8651" l="0" r="0" t="0"/>
          <a:stretch/>
        </p:blipFill>
        <p:spPr>
          <a:xfrm>
            <a:off x="3939650" y="2029791"/>
            <a:ext cx="4494253" cy="2565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7"/>
          <p:cNvSpPr txBox="1"/>
          <p:nvPr>
            <p:ph type="title"/>
          </p:nvPr>
        </p:nvSpPr>
        <p:spPr>
          <a:xfrm>
            <a:off x="6343891" y="2064537"/>
            <a:ext cx="2104331" cy="1220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i="1" lang="es"/>
              <a:t>Solución funcional y pruebas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8"/>
          <p:cNvSpPr txBox="1"/>
          <p:nvPr>
            <p:ph idx="1" type="body"/>
          </p:nvPr>
        </p:nvSpPr>
        <p:spPr>
          <a:xfrm>
            <a:off x="491037" y="413275"/>
            <a:ext cx="77088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2700" lvl="0" marL="1651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"/>
              <a:t>Funcionalidades 100% Operativas</a:t>
            </a:r>
            <a:endParaRPr/>
          </a:p>
        </p:txBody>
      </p:sp>
      <p:graphicFrame>
        <p:nvGraphicFramePr>
          <p:cNvPr id="226" name="Google Shape;226;p38"/>
          <p:cNvGraphicFramePr/>
          <p:nvPr/>
        </p:nvGraphicFramePr>
        <p:xfrm>
          <a:off x="494888" y="10573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{2665A334-75D8-4412-BFE7-AEDF258FB91C}</a:tableStyleId>
              </a:tblPr>
              <a:tblGrid>
                <a:gridCol w="2730575"/>
                <a:gridCol w="4158525"/>
                <a:gridCol w="1265125"/>
              </a:tblGrid>
              <a:tr h="67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" sz="1200" u="none" cap="none" strike="noStrike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Funcionalidad Obligatoria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E7C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" sz="1200" u="none" cap="none" strike="noStrike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Estado Técnico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E7C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" sz="1200" u="none" cap="none" strike="noStrike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Evidencia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E7CDD"/>
                    </a:solidFill>
                  </a:tcPr>
                </a:tc>
              </a:tr>
              <a:tr h="67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" sz="1275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Gestión Usuarios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275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Auth Supabase + Roles (Admin/Cajero)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275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7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" sz="1275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Mantenedores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275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CRUD Productos/Proveedores Completo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275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7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" sz="1275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Venta Crítica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275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Lógica de decimales y pausa de venta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275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7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" sz="1275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Alertas Stock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275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Trigger DB + Notificación UI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275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9"/>
          <p:cNvSpPr txBox="1"/>
          <p:nvPr>
            <p:ph idx="1" type="body"/>
          </p:nvPr>
        </p:nvSpPr>
        <p:spPr>
          <a:xfrm>
            <a:off x="1836833" y="304375"/>
            <a:ext cx="6733800" cy="352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rPr lang="es"/>
              <a:t>AMBIENTE CLOUD Y PRUEBAS</a:t>
            </a:r>
            <a:endParaRPr/>
          </a:p>
        </p:txBody>
      </p:sp>
      <p:sp>
        <p:nvSpPr>
          <p:cNvPr id="232" name="Google Shape;232;p39"/>
          <p:cNvSpPr txBox="1"/>
          <p:nvPr>
            <p:ph idx="2" type="body"/>
          </p:nvPr>
        </p:nvSpPr>
        <p:spPr>
          <a:xfrm>
            <a:off x="1023050" y="869975"/>
            <a:ext cx="3351300" cy="3917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50">
                <a:solidFill>
                  <a:srgbClr val="2C3E50"/>
                </a:solidFill>
                <a:highlight>
                  <a:srgbClr val="FFFFFF"/>
                </a:highlight>
              </a:rPr>
              <a:t>Infraestructura Cloud</a:t>
            </a:r>
            <a:endParaRPr sz="1850">
              <a:solidFill>
                <a:srgbClr val="2C3E50"/>
              </a:solidFill>
              <a:highlight>
                <a:srgbClr val="FFFFFF"/>
              </a:highlight>
            </a:endParaRPr>
          </a:p>
          <a:p>
            <a:pPr indent="-333375" lvl="0" marL="457200" rtl="0" algn="l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rgbClr val="2C3E50"/>
              </a:buClr>
              <a:buSzPts val="1650"/>
              <a:buChar char="●"/>
            </a:pPr>
            <a:r>
              <a:rPr b="1" lang="es" sz="1650">
                <a:solidFill>
                  <a:srgbClr val="2C3E50"/>
                </a:solidFill>
                <a:highlight>
                  <a:srgbClr val="FFFFFF"/>
                </a:highlight>
              </a:rPr>
              <a:t>Hosting:</a:t>
            </a:r>
            <a:r>
              <a:rPr lang="es" sz="1650">
                <a:solidFill>
                  <a:srgbClr val="2C3E50"/>
                </a:solidFill>
                <a:highlight>
                  <a:srgbClr val="FFFFFF"/>
                </a:highlight>
              </a:rPr>
              <a:t> Vercel (CI/CD Automático).</a:t>
            </a:r>
            <a:endParaRPr sz="1650">
              <a:solidFill>
                <a:srgbClr val="2C3E50"/>
              </a:solidFill>
              <a:highlight>
                <a:srgbClr val="FFFFFF"/>
              </a:highlight>
            </a:endParaRPr>
          </a:p>
          <a:p>
            <a:pPr indent="-3333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50"/>
              <a:buChar char="●"/>
            </a:pPr>
            <a:r>
              <a:rPr b="1" lang="es" sz="1650">
                <a:solidFill>
                  <a:srgbClr val="2C3E50"/>
                </a:solidFill>
                <a:highlight>
                  <a:schemeClr val="lt1"/>
                </a:highlight>
              </a:rPr>
              <a:t>Base de Datos</a:t>
            </a:r>
            <a:r>
              <a:rPr b="1" lang="es" sz="1650">
                <a:solidFill>
                  <a:srgbClr val="2C3E50"/>
                </a:solidFill>
                <a:highlight>
                  <a:schemeClr val="lt1"/>
                </a:highlight>
              </a:rPr>
              <a:t>:</a:t>
            </a:r>
            <a:r>
              <a:rPr lang="es" sz="1650">
                <a:solidFill>
                  <a:srgbClr val="2C3E50"/>
                </a:solidFill>
                <a:highlight>
                  <a:schemeClr val="lt1"/>
                </a:highlight>
              </a:rPr>
              <a:t> Supabase (PostgreSQL).</a:t>
            </a:r>
            <a:endParaRPr sz="1650">
              <a:solidFill>
                <a:srgbClr val="2C3E50"/>
              </a:solidFill>
              <a:highlight>
                <a:schemeClr val="lt1"/>
              </a:highlight>
            </a:endParaRPr>
          </a:p>
          <a:p>
            <a:pPr indent="-3333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50"/>
              <a:buChar char="●"/>
            </a:pPr>
            <a:r>
              <a:rPr b="1" lang="es" sz="1650">
                <a:solidFill>
                  <a:srgbClr val="2C3E50"/>
                </a:solidFill>
                <a:highlight>
                  <a:schemeClr val="lt1"/>
                </a:highlight>
              </a:rPr>
              <a:t>Ambiente de Pruebas:</a:t>
            </a:r>
            <a:r>
              <a:rPr lang="es" sz="1650">
                <a:solidFill>
                  <a:srgbClr val="2C3E50"/>
                </a:solidFill>
                <a:highlight>
                  <a:schemeClr val="lt1"/>
                </a:highlight>
              </a:rPr>
              <a:t> Captura de copias de seguridad exitosas.</a:t>
            </a:r>
            <a:endParaRPr sz="1650">
              <a:solidFill>
                <a:srgbClr val="2C3E50"/>
              </a:solidFill>
              <a:highlight>
                <a:schemeClr val="lt1"/>
              </a:highlight>
            </a:endParaRPr>
          </a:p>
        </p:txBody>
      </p:sp>
      <p:pic>
        <p:nvPicPr>
          <p:cNvPr id="233" name="Google Shape;23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4350" y="1124950"/>
            <a:ext cx="3993551" cy="2893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258" y="774513"/>
            <a:ext cx="4476526" cy="3594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9622" y="980188"/>
            <a:ext cx="4084416" cy="3183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1"/>
          <p:cNvSpPr txBox="1"/>
          <p:nvPr>
            <p:ph type="title"/>
          </p:nvPr>
        </p:nvSpPr>
        <p:spPr>
          <a:xfrm>
            <a:off x="1108100" y="1567054"/>
            <a:ext cx="2104200" cy="2009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PLAN DE PRUEBAS EJECUTADO</a:t>
            </a:r>
            <a:endParaRPr/>
          </a:p>
        </p:txBody>
      </p:sp>
      <p:sp>
        <p:nvSpPr>
          <p:cNvPr id="245" name="Google Shape;245;p41"/>
          <p:cNvSpPr txBox="1"/>
          <p:nvPr>
            <p:ph idx="1" type="body"/>
          </p:nvPr>
        </p:nvSpPr>
        <p:spPr>
          <a:xfrm>
            <a:off x="3863184" y="879450"/>
            <a:ext cx="5023800" cy="3384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50">
                <a:solidFill>
                  <a:srgbClr val="2C3E50"/>
                </a:solidFill>
                <a:highlight>
                  <a:schemeClr val="lt1"/>
                </a:highlight>
              </a:rPr>
              <a:t>Métricas de Calidad</a:t>
            </a:r>
            <a:endParaRPr b="1" sz="1850">
              <a:solidFill>
                <a:srgbClr val="2C3E50"/>
              </a:solidFill>
              <a:highlight>
                <a:schemeClr val="lt1"/>
              </a:highlight>
            </a:endParaRPr>
          </a:p>
          <a:p>
            <a:pPr indent="-346075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C3E50"/>
              </a:buClr>
              <a:buSzPts val="1850"/>
              <a:buChar char="●"/>
            </a:pPr>
            <a:r>
              <a:rPr b="1" lang="es" sz="1850">
                <a:solidFill>
                  <a:srgbClr val="2C3E50"/>
                </a:solidFill>
                <a:highlight>
                  <a:schemeClr val="lt1"/>
                </a:highlight>
              </a:rPr>
              <a:t>Rendimiento</a:t>
            </a:r>
            <a:r>
              <a:rPr b="1" lang="es" sz="1850">
                <a:solidFill>
                  <a:srgbClr val="2C3E50"/>
                </a:solidFill>
                <a:highlight>
                  <a:schemeClr val="lt1"/>
                </a:highlight>
              </a:rPr>
              <a:t>:</a:t>
            </a:r>
            <a:r>
              <a:rPr lang="es" sz="1850">
                <a:solidFill>
                  <a:srgbClr val="2C3E50"/>
                </a:solidFill>
                <a:highlight>
                  <a:schemeClr val="lt1"/>
                </a:highlight>
              </a:rPr>
              <a:t> Búsqueda &lt; 1s con 10k productos.</a:t>
            </a:r>
            <a:endParaRPr sz="1850">
              <a:solidFill>
                <a:srgbClr val="2C3E50"/>
              </a:solidFill>
              <a:highlight>
                <a:schemeClr val="lt1"/>
              </a:highlight>
            </a:endParaRPr>
          </a:p>
          <a:p>
            <a:pPr indent="-3460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850"/>
              <a:buChar char="●"/>
            </a:pPr>
            <a:r>
              <a:rPr b="1" lang="es" sz="1850">
                <a:solidFill>
                  <a:srgbClr val="2C3E50"/>
                </a:solidFill>
                <a:highlight>
                  <a:schemeClr val="lt1"/>
                </a:highlight>
              </a:rPr>
              <a:t>Precisión:</a:t>
            </a:r>
            <a:r>
              <a:rPr lang="es" sz="1850">
                <a:solidFill>
                  <a:srgbClr val="2C3E50"/>
                </a:solidFill>
                <a:highlight>
                  <a:schemeClr val="lt1"/>
                </a:highlight>
              </a:rPr>
              <a:t> Cálculo de decimales validado 100%.</a:t>
            </a:r>
            <a:endParaRPr sz="1850">
              <a:solidFill>
                <a:srgbClr val="2C3E50"/>
              </a:solidFill>
              <a:highlight>
                <a:schemeClr val="lt1"/>
              </a:highlight>
            </a:endParaRPr>
          </a:p>
          <a:p>
            <a:pPr indent="-3460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850"/>
              <a:buChar char="●"/>
            </a:pPr>
            <a:r>
              <a:rPr b="1" lang="es" sz="1850">
                <a:solidFill>
                  <a:srgbClr val="2C3E50"/>
                </a:solidFill>
                <a:highlight>
                  <a:schemeClr val="lt1"/>
                </a:highlight>
              </a:rPr>
              <a:t>Sincronización:</a:t>
            </a:r>
            <a:r>
              <a:rPr lang="es" sz="1850">
                <a:solidFill>
                  <a:srgbClr val="2C3E50"/>
                </a:solidFill>
                <a:highlight>
                  <a:schemeClr val="lt1"/>
                </a:highlight>
              </a:rPr>
              <a:t> El tiempo de sincronizacion sera &lt;= 3 segundos.</a:t>
            </a:r>
            <a:endParaRPr sz="1850">
              <a:solidFill>
                <a:srgbClr val="2C3E50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2"/>
          <p:cNvSpPr txBox="1"/>
          <p:nvPr>
            <p:ph type="title"/>
          </p:nvPr>
        </p:nvSpPr>
        <p:spPr>
          <a:xfrm>
            <a:off x="1108100" y="1340499"/>
            <a:ext cx="2104200" cy="2481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Archivos para revisar / comprobar</a:t>
            </a:r>
            <a:endParaRPr/>
          </a:p>
        </p:txBody>
      </p:sp>
      <p:sp>
        <p:nvSpPr>
          <p:cNvPr id="251" name="Google Shape;251;p42"/>
          <p:cNvSpPr txBox="1"/>
          <p:nvPr/>
        </p:nvSpPr>
        <p:spPr>
          <a:xfrm>
            <a:off x="3819975" y="682975"/>
            <a:ext cx="4867800" cy="37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chemeClr val="dk1"/>
                </a:solidFill>
              </a:rPr>
              <a:t>Drive: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u="sng">
                <a:solidFill>
                  <a:schemeClr val="hlink"/>
                </a:solidFill>
                <a:hlinkClick r:id="rId3"/>
              </a:rPr>
              <a:t>https://drive.google.com/drive/u/1/folders/18mgaKkMReaFDQXCeHM_cvE3MdSlVvcZO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chemeClr val="dk1"/>
                </a:solidFill>
              </a:rPr>
              <a:t>GitHub:</a:t>
            </a:r>
            <a:br>
              <a:rPr lang="es" sz="2100">
                <a:solidFill>
                  <a:schemeClr val="dk1"/>
                </a:solidFill>
              </a:rPr>
            </a:br>
            <a:r>
              <a:rPr lang="es" sz="1700" u="sng">
                <a:solidFill>
                  <a:schemeClr val="hlink"/>
                </a:solidFill>
                <a:hlinkClick r:id="rId4"/>
              </a:rPr>
              <a:t>https://github.com/11vicente/Proyecto_taller_programacion/tree/main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